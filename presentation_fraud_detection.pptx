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6.jpg" ContentType="image/png"/>
  <Override PartName="/ppt/media/image8.jpg" ContentType="image/png"/>
  <Override PartName="/ppt/media/image10.jpg" ContentType="image/png"/>
  <Override PartName="/ppt/media/image11.jpg" ContentType="image/png"/>
  <Override PartName="/ppt/media/image12.jpg" ContentType="image/png"/>
  <Override PartName="/ppt/media/image13.jpg" ContentType="image/png"/>
  <Override PartName="/ppt/media/image14.jpg" ContentType="image/png"/>
  <Override PartName="/ppt/media/image15.jpg" ContentType="image/png"/>
  <Override PartName="/ppt/media/image2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926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52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84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15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897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14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177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028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14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47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318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8018A-E010-4ACF-AAAD-A572DE891426}" type="datetimeFigureOut">
              <a:rPr lang="pt-BR" smtClean="0"/>
              <a:t>23/12/2021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C961C-5904-4867-9E5F-C2E93C25D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960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ilsonreport.com/content_promo.php?id_promo=16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54331" y="2403565"/>
            <a:ext cx="9144000" cy="1435827"/>
          </a:xfrm>
        </p:spPr>
        <p:txBody>
          <a:bodyPr>
            <a:normAutofit/>
          </a:bodyPr>
          <a:lstStyle/>
          <a:p>
            <a:r>
              <a:rPr lang="pt-BR" sz="4400" dirty="0" smtClean="0">
                <a:latin typeface="Georgia" panose="02040502050405020303" pitchFamily="18" charset="0"/>
              </a:rPr>
              <a:t>Detecção de Fraude em Transações com Cartão de Crédito</a:t>
            </a:r>
            <a:endParaRPr lang="pt-BR" sz="4400" dirty="0">
              <a:latin typeface="Georgia" panose="02040502050405020303" pitchFamily="18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398873"/>
            <a:ext cx="9144000" cy="1655762"/>
          </a:xfrm>
        </p:spPr>
        <p:txBody>
          <a:bodyPr/>
          <a:lstStyle/>
          <a:p>
            <a:r>
              <a:rPr lang="pt-BR" dirty="0" smtClean="0">
                <a:latin typeface="Georgia" panose="02040502050405020303" pitchFamily="18" charset="0"/>
              </a:rPr>
              <a:t>João Lucas </a:t>
            </a:r>
            <a:r>
              <a:rPr lang="pt-BR" dirty="0" err="1" smtClean="0">
                <a:latin typeface="Georgia" panose="02040502050405020303" pitchFamily="18" charset="0"/>
              </a:rPr>
              <a:t>Miqueleto</a:t>
            </a:r>
            <a:r>
              <a:rPr lang="pt-BR" dirty="0" smtClean="0">
                <a:latin typeface="Georgia" panose="02040502050405020303" pitchFamily="18" charset="0"/>
              </a:rPr>
              <a:t> Reis </a:t>
            </a:r>
          </a:p>
          <a:p>
            <a:r>
              <a:rPr lang="pt-BR" sz="2200" dirty="0" smtClean="0">
                <a:solidFill>
                  <a:srgbClr val="0070C0"/>
                </a:solidFill>
                <a:latin typeface="Georgia" panose="02040502050405020303" pitchFamily="18" charset="0"/>
              </a:rPr>
              <a:t>joaolucasmreis@gmail.com</a:t>
            </a:r>
            <a:r>
              <a:rPr lang="pt-BR" dirty="0" smtClean="0">
                <a:solidFill>
                  <a:srgbClr val="0070C0"/>
                </a:solidFill>
                <a:latin typeface="Georgia" panose="02040502050405020303" pitchFamily="18" charset="0"/>
              </a:rPr>
              <a:t> </a:t>
            </a:r>
          </a:p>
          <a:p>
            <a:endParaRPr lang="pt-BR" dirty="0" smtClean="0">
              <a:latin typeface="Georgia" panose="02040502050405020303" pitchFamily="18" charset="0"/>
            </a:endParaRPr>
          </a:p>
          <a:p>
            <a:endParaRPr lang="pt-BR" dirty="0">
              <a:latin typeface="Georgia" panose="02040502050405020303" pitchFamily="18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349" y="0"/>
            <a:ext cx="4014651" cy="220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5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7043" y="-101330"/>
            <a:ext cx="10515600" cy="1325563"/>
          </a:xfrm>
        </p:spPr>
        <p:txBody>
          <a:bodyPr/>
          <a:lstStyle/>
          <a:p>
            <a:r>
              <a:rPr lang="pt-BR" b="1" dirty="0" smtClean="0"/>
              <a:t>O impacto das fraudes com cartões de crédito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646" y="2083340"/>
            <a:ext cx="5664708" cy="3835908"/>
          </a:xfr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066" y="1167204"/>
            <a:ext cx="5598253" cy="2570364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066" y="4448310"/>
            <a:ext cx="5598253" cy="1421485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67043" y="1927399"/>
            <a:ext cx="6182590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  <a:cs typeface="Arial" panose="020B0604020202020204" pitchFamily="34" charset="0"/>
              </a:rPr>
              <a:t>Com  o crescente número de transações</a:t>
            </a:r>
          </a:p>
          <a:p>
            <a:r>
              <a:rPr lang="pt-BR" sz="2400" dirty="0" smtClean="0">
                <a:latin typeface="+mj-lt"/>
                <a:cs typeface="Arial" panose="020B0604020202020204" pitchFamily="34" charset="0"/>
              </a:rPr>
              <a:t>financeiras realizadas por meios digitais e </a:t>
            </a:r>
          </a:p>
          <a:p>
            <a:r>
              <a:rPr lang="pt-BR" sz="2400" dirty="0" smtClean="0">
                <a:latin typeface="+mj-lt"/>
                <a:cs typeface="Arial" panose="020B0604020202020204" pitchFamily="34" charset="0"/>
              </a:rPr>
              <a:t>cartões, também cresce o número de fraudes;</a:t>
            </a:r>
          </a:p>
          <a:p>
            <a:endParaRPr lang="pt-BR" sz="2400" dirty="0" smtClean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  <a:cs typeface="Arial" panose="020B0604020202020204" pitchFamily="34" charset="0"/>
              </a:rPr>
              <a:t>Segundo o relatório Nilson, somente em 2019</a:t>
            </a:r>
          </a:p>
          <a:p>
            <a:r>
              <a:rPr lang="pt-BR" sz="2400" dirty="0" smtClean="0">
                <a:latin typeface="+mj-lt"/>
                <a:cs typeface="Arial" panose="020B0604020202020204" pitchFamily="34" charset="0"/>
              </a:rPr>
              <a:t>o prejuízo atingiu a marca de $ 28.58 bilhões!</a:t>
            </a:r>
          </a:p>
          <a:p>
            <a:r>
              <a:rPr lang="pt-BR" dirty="0" smtClean="0">
                <a:solidFill>
                  <a:schemeClr val="accent5"/>
                </a:solidFill>
                <a:latin typeface="+mj-lt"/>
                <a:cs typeface="Arial" panose="020B0604020202020204" pitchFamily="34" charset="0"/>
              </a:rPr>
              <a:t>(</a:t>
            </a:r>
            <a:r>
              <a:rPr lang="pt-BR" dirty="0" smtClean="0">
                <a:solidFill>
                  <a:schemeClr val="accent5"/>
                </a:solidFill>
                <a:latin typeface="+mj-lt"/>
                <a:cs typeface="Arial" panose="020B0604020202020204" pitchFamily="34" charset="0"/>
                <a:hlinkClick r:id="rId5"/>
              </a:rPr>
              <a:t>https://nilsonreport.com/content_promo.php?id_promo=16</a:t>
            </a:r>
            <a:r>
              <a:rPr lang="pt-BR" dirty="0" smtClean="0">
                <a:solidFill>
                  <a:schemeClr val="accent5"/>
                </a:solidFill>
                <a:latin typeface="+mj-lt"/>
                <a:cs typeface="Arial" panose="020B0604020202020204" pitchFamily="34" charset="0"/>
              </a:rPr>
              <a:t>)</a:t>
            </a:r>
          </a:p>
          <a:p>
            <a:endParaRPr lang="pt-BR" dirty="0" smtClean="0">
              <a:solidFill>
                <a:schemeClr val="accent5"/>
              </a:solidFill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  <a:cs typeface="Arial" panose="020B0604020202020204" pitchFamily="34" charset="0"/>
              </a:rPr>
              <a:t>Como técnicas de </a:t>
            </a:r>
            <a:r>
              <a:rPr lang="pt-BR" sz="2400" dirty="0" err="1" smtClean="0">
                <a:latin typeface="+mj-lt"/>
                <a:cs typeface="Arial" panose="020B0604020202020204" pitchFamily="34" charset="0"/>
              </a:rPr>
              <a:t>Machine</a:t>
            </a:r>
            <a:r>
              <a:rPr lang="pt-BR" sz="2400" dirty="0" smtClean="0">
                <a:latin typeface="+mj-lt"/>
                <a:cs typeface="Arial" panose="020B0604020202020204" pitchFamily="34" charset="0"/>
              </a:rPr>
              <a:t> Learning podem</a:t>
            </a:r>
          </a:p>
          <a:p>
            <a:r>
              <a:rPr lang="pt-BR" sz="2400" dirty="0" smtClean="0">
                <a:latin typeface="+mj-lt"/>
                <a:cs typeface="Arial" panose="020B0604020202020204" pitchFamily="34" charset="0"/>
              </a:rPr>
              <a:t>ajudar a diminuir esse prejuízo? </a:t>
            </a:r>
            <a:endParaRPr lang="pt-BR" sz="24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13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6423" y="-182879"/>
            <a:ext cx="11739154" cy="1384663"/>
          </a:xfrm>
        </p:spPr>
        <p:txBody>
          <a:bodyPr>
            <a:normAutofit/>
          </a:bodyPr>
          <a:lstStyle/>
          <a:p>
            <a:r>
              <a:rPr lang="pt-BR" sz="3600" b="1" dirty="0" smtClean="0"/>
              <a:t>Detecção de Fraudes – o método atual </a:t>
            </a:r>
            <a:r>
              <a:rPr lang="pt-BR" sz="3600" b="1" dirty="0" err="1" smtClean="0"/>
              <a:t>vs</a:t>
            </a:r>
            <a:r>
              <a:rPr lang="pt-BR" sz="3600" b="1" dirty="0" smtClean="0"/>
              <a:t> </a:t>
            </a:r>
            <a:r>
              <a:rPr lang="pt-BR" sz="3600" b="1" dirty="0" err="1" smtClean="0"/>
              <a:t>Machine</a:t>
            </a:r>
            <a:r>
              <a:rPr lang="pt-BR" sz="3600" b="1" dirty="0" smtClean="0"/>
              <a:t> Learning</a:t>
            </a:r>
            <a:endParaRPr lang="pt-BR" sz="36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4286" y="1071154"/>
            <a:ext cx="11103428" cy="2390503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Método convencional</a:t>
            </a:r>
            <a:endParaRPr lang="pt-BR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As regras de decisão são implementadas manualmente;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O processo é demorado;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Múltiplas etapas de verificação são necessárias;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Só detecta fraudes óbvias.</a:t>
            </a:r>
            <a:endParaRPr lang="pt-BR" sz="2400" dirty="0">
              <a:latin typeface="+mj-lt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44286" y="3461657"/>
            <a:ext cx="10998926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 smtClean="0"/>
              <a:t>Machine</a:t>
            </a:r>
            <a:r>
              <a:rPr lang="pt-BR" sz="2800" dirty="0" smtClean="0"/>
              <a:t> Learning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Detecta fraudes automaticamente;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O processo é rápido;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Uma menor quantidade de etapas de verificação são necessárias;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Encontra padrões escondidos nos dados que permite detectar fraudes não-óbvias.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66206" y="6074229"/>
            <a:ext cx="1018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Para mais informações: </a:t>
            </a:r>
            <a:r>
              <a:rPr lang="pt-BR" dirty="0" smtClean="0">
                <a:solidFill>
                  <a:schemeClr val="accent5"/>
                </a:solidFill>
              </a:rPr>
              <a:t>https://spd.group/machine-learning/credit-card-fraud-detection</a:t>
            </a:r>
            <a:r>
              <a:rPr lang="pt-BR" dirty="0" smtClean="0"/>
              <a:t>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387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7309" y="-118201"/>
            <a:ext cx="10515600" cy="1325563"/>
          </a:xfrm>
        </p:spPr>
        <p:txBody>
          <a:bodyPr/>
          <a:lstStyle/>
          <a:p>
            <a:r>
              <a:rPr lang="pt-BR" b="1" dirty="0" smtClean="0"/>
              <a:t>O problema que estamos lidando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090" y="1574844"/>
            <a:ext cx="6937881" cy="2136729"/>
          </a:xfrm>
        </p:spPr>
      </p:pic>
      <p:sp>
        <p:nvSpPr>
          <p:cNvPr id="5" name="CaixaDeTexto 4"/>
          <p:cNvSpPr txBox="1"/>
          <p:nvPr/>
        </p:nvSpPr>
        <p:spPr>
          <a:xfrm>
            <a:off x="237309" y="1304381"/>
            <a:ext cx="45567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Transações realizadas durante</a:t>
            </a:r>
          </a:p>
          <a:p>
            <a:r>
              <a:rPr lang="pt-BR" sz="2400" dirty="0" smtClean="0">
                <a:latin typeface="+mj-lt"/>
              </a:rPr>
              <a:t>dois dias em Setembro de 2013 na </a:t>
            </a:r>
          </a:p>
          <a:p>
            <a:r>
              <a:rPr lang="pt-BR" sz="2400" dirty="0" smtClean="0">
                <a:latin typeface="+mj-lt"/>
              </a:rPr>
              <a:t>Europa;</a:t>
            </a:r>
          </a:p>
          <a:p>
            <a:endParaRPr lang="pt-BR" sz="2400" dirty="0" smtClean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Ao todo são 284807 transações,</a:t>
            </a:r>
          </a:p>
          <a:p>
            <a:r>
              <a:rPr lang="pt-BR" sz="2400" dirty="0" smtClean="0">
                <a:latin typeface="+mj-lt"/>
              </a:rPr>
              <a:t>sendo que somente 492 são fraudulentas (~ 0,17% do total);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37309" y="4193177"/>
            <a:ext cx="11403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Devido a confidencialidade dos usuários, os dados foram todos </a:t>
            </a:r>
            <a:r>
              <a:rPr lang="pt-BR" sz="2400" dirty="0" err="1" smtClean="0">
                <a:latin typeface="+mj-lt"/>
              </a:rPr>
              <a:t>anonimizados</a:t>
            </a:r>
            <a:r>
              <a:rPr lang="pt-BR" sz="2400" dirty="0" smtClean="0">
                <a:latin typeface="+mj-lt"/>
              </a:rPr>
              <a:t>;</a:t>
            </a:r>
          </a:p>
          <a:p>
            <a:endParaRPr lang="pt-BR" sz="24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As </a:t>
            </a:r>
            <a:r>
              <a:rPr lang="pt-BR" sz="2400" dirty="0" err="1" smtClean="0">
                <a:latin typeface="+mj-lt"/>
              </a:rPr>
              <a:t>features</a:t>
            </a:r>
            <a:r>
              <a:rPr lang="pt-BR" sz="2400" dirty="0" smtClean="0">
                <a:latin typeface="+mj-lt"/>
              </a:rPr>
              <a:t> do problema são V1, V2, ..., V28, Time e </a:t>
            </a:r>
            <a:r>
              <a:rPr lang="pt-BR" sz="2400" dirty="0" err="1" smtClean="0">
                <a:latin typeface="+mj-lt"/>
              </a:rPr>
              <a:t>Amount</a:t>
            </a:r>
            <a:r>
              <a:rPr lang="pt-BR" sz="2400" dirty="0" smtClean="0">
                <a:latin typeface="+mj-lt"/>
              </a:rPr>
              <a:t>.</a:t>
            </a:r>
            <a:endParaRPr lang="pt-BR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105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6497" y="-131263"/>
            <a:ext cx="10515600" cy="1325563"/>
          </a:xfrm>
        </p:spPr>
        <p:txBody>
          <a:bodyPr/>
          <a:lstStyle/>
          <a:p>
            <a:r>
              <a:rPr lang="pt-BR" b="1" dirty="0" smtClean="0"/>
              <a:t>Análise Exploratória dos Dados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155" y="972231"/>
            <a:ext cx="6270172" cy="5788973"/>
          </a:xfrm>
        </p:spPr>
      </p:pic>
      <p:sp>
        <p:nvSpPr>
          <p:cNvPr id="5" name="CaixaDeTexto 4"/>
          <p:cNvSpPr txBox="1"/>
          <p:nvPr/>
        </p:nvSpPr>
        <p:spPr>
          <a:xfrm>
            <a:off x="259080" y="1530928"/>
            <a:ext cx="527521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As </a:t>
            </a:r>
            <a:r>
              <a:rPr lang="pt-BR" sz="2400" dirty="0" err="1" smtClean="0">
                <a:latin typeface="+mj-lt"/>
              </a:rPr>
              <a:t>features</a:t>
            </a:r>
            <a:r>
              <a:rPr lang="pt-BR" sz="2400" dirty="0" smtClean="0">
                <a:latin typeface="+mj-lt"/>
              </a:rPr>
              <a:t> “V17”, “V14” e “V12” possuem uma correlação negativa mais forte com a variável alvo;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4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As </a:t>
            </a:r>
            <a:r>
              <a:rPr lang="pt-BR" sz="2400" dirty="0" err="1" smtClean="0">
                <a:latin typeface="+mj-lt"/>
              </a:rPr>
              <a:t>features</a:t>
            </a:r>
            <a:r>
              <a:rPr lang="pt-BR" sz="2400" dirty="0" smtClean="0">
                <a:latin typeface="+mj-lt"/>
              </a:rPr>
              <a:t> “V2”, “V4” e “V11” possuem uma correlação positiva mais </a:t>
            </a:r>
          </a:p>
          <a:p>
            <a:r>
              <a:rPr lang="pt-BR" sz="2400" dirty="0" smtClean="0">
                <a:latin typeface="+mj-lt"/>
              </a:rPr>
              <a:t>     forte com a variável alvo;</a:t>
            </a:r>
          </a:p>
          <a:p>
            <a:endParaRPr lang="pt-BR" sz="24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O </a:t>
            </a:r>
            <a:r>
              <a:rPr lang="pt-BR" sz="2400" dirty="0" err="1" smtClean="0">
                <a:latin typeface="+mj-lt"/>
              </a:rPr>
              <a:t>boxplot</a:t>
            </a:r>
            <a:r>
              <a:rPr lang="pt-BR" sz="2400" dirty="0" smtClean="0">
                <a:latin typeface="+mj-lt"/>
              </a:rPr>
              <a:t> dessas variáveis pode nos ajudar a investigar o comportamento dessas </a:t>
            </a:r>
            <a:r>
              <a:rPr lang="pt-BR" sz="2400" dirty="0" err="1" smtClean="0">
                <a:latin typeface="+mj-lt"/>
              </a:rPr>
              <a:t>features</a:t>
            </a:r>
            <a:r>
              <a:rPr lang="pt-BR" sz="2400" dirty="0" smtClean="0">
                <a:latin typeface="+mj-lt"/>
              </a:rPr>
              <a:t>.</a:t>
            </a:r>
          </a:p>
          <a:p>
            <a:endParaRPr lang="pt-BR" sz="2400" dirty="0">
              <a:latin typeface="+mj-lt"/>
            </a:endParaRPr>
          </a:p>
          <a:p>
            <a:endParaRPr lang="pt-BR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51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2806" y="-195942"/>
            <a:ext cx="10515600" cy="1254033"/>
          </a:xfrm>
        </p:spPr>
        <p:txBody>
          <a:bodyPr/>
          <a:lstStyle/>
          <a:p>
            <a:r>
              <a:rPr lang="pt-BR" b="1" dirty="0" smtClean="0"/>
              <a:t>Análise Exploratória dos Dados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303" y="4070583"/>
            <a:ext cx="8722379" cy="2068960"/>
          </a:xfrm>
          <a:prstGeom prst="rect">
            <a:avLst/>
          </a:prstGeom>
        </p:spPr>
      </p:pic>
      <p:pic>
        <p:nvPicPr>
          <p:cNvPr id="8" name="Espaço Reservado para Conteúdo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628" y="1325563"/>
            <a:ext cx="8730053" cy="2070780"/>
          </a:xfrm>
        </p:spPr>
      </p:pic>
      <p:sp>
        <p:nvSpPr>
          <p:cNvPr id="9" name="CaixaDeTexto 8"/>
          <p:cNvSpPr txBox="1"/>
          <p:nvPr/>
        </p:nvSpPr>
        <p:spPr>
          <a:xfrm>
            <a:off x="224246" y="1717449"/>
            <a:ext cx="3015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latin typeface="+mj-lt"/>
              </a:rPr>
              <a:t>Mediana em torno de -5 na</a:t>
            </a:r>
          </a:p>
          <a:p>
            <a:r>
              <a:rPr lang="pt-BR" dirty="0" smtClean="0">
                <a:latin typeface="+mj-lt"/>
              </a:rPr>
              <a:t>Classe 1 nos 3 casos;</a:t>
            </a:r>
          </a:p>
          <a:p>
            <a:endParaRPr lang="pt-BR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 smtClean="0">
                <a:latin typeface="+mj-lt"/>
              </a:rPr>
              <a:t>IQR’s</a:t>
            </a:r>
            <a:r>
              <a:rPr lang="pt-BR" dirty="0" smtClean="0">
                <a:latin typeface="+mj-lt"/>
              </a:rPr>
              <a:t> situados em valores</a:t>
            </a:r>
          </a:p>
          <a:p>
            <a:r>
              <a:rPr lang="pt-BR" dirty="0">
                <a:latin typeface="+mj-lt"/>
              </a:rPr>
              <a:t>n</a:t>
            </a:r>
            <a:r>
              <a:rPr lang="pt-BR" dirty="0" smtClean="0">
                <a:latin typeface="+mj-lt"/>
              </a:rPr>
              <a:t>egativos;</a:t>
            </a:r>
            <a:endParaRPr lang="pt-BR" dirty="0">
              <a:latin typeface="+mj-lt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224246" y="1204890"/>
            <a:ext cx="2717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latin typeface="+mj-lt"/>
              </a:rPr>
              <a:t>Correlações Negativas</a:t>
            </a:r>
            <a:endParaRPr lang="pt-BR" sz="2000" b="1" dirty="0">
              <a:latin typeface="+mj-lt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24246" y="4506687"/>
            <a:ext cx="2756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latin typeface="+mj-lt"/>
              </a:rPr>
              <a:t>Para as variáveis “V4” e “V11” tanto a mediana quanto os </a:t>
            </a:r>
            <a:r>
              <a:rPr lang="pt-BR" dirty="0" err="1" smtClean="0">
                <a:latin typeface="+mj-lt"/>
              </a:rPr>
              <a:t>IQR’s</a:t>
            </a:r>
            <a:r>
              <a:rPr lang="pt-BR" dirty="0" smtClean="0">
                <a:latin typeface="+mj-lt"/>
              </a:rPr>
              <a:t> são superiores ao da Classe 0.</a:t>
            </a:r>
            <a:endParaRPr lang="pt-BR" dirty="0">
              <a:latin typeface="+mj-lt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24246" y="3933705"/>
            <a:ext cx="250806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+mj-lt"/>
              </a:rPr>
              <a:t>Correlações </a:t>
            </a:r>
            <a:r>
              <a:rPr lang="pt-BR" sz="2000" b="1" dirty="0" smtClean="0">
                <a:latin typeface="+mj-lt"/>
              </a:rPr>
              <a:t>Positivas</a:t>
            </a:r>
            <a:endParaRPr lang="pt-BR" sz="2000" b="1" dirty="0">
              <a:latin typeface="+mj-lt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822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4063" y="0"/>
            <a:ext cx="10515600" cy="1325563"/>
          </a:xfrm>
        </p:spPr>
        <p:txBody>
          <a:bodyPr/>
          <a:lstStyle/>
          <a:p>
            <a:r>
              <a:rPr lang="pt-BR" b="1" dirty="0" smtClean="0"/>
              <a:t>Análise Exploratória dos Dados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63" y="1460988"/>
            <a:ext cx="6457405" cy="5017929"/>
          </a:xfrm>
        </p:spPr>
      </p:pic>
      <p:sp>
        <p:nvSpPr>
          <p:cNvPr id="5" name="CaixaDeTexto 4"/>
          <p:cNvSpPr txBox="1"/>
          <p:nvPr/>
        </p:nvSpPr>
        <p:spPr>
          <a:xfrm>
            <a:off x="302623" y="2103121"/>
            <a:ext cx="46873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+mj-lt"/>
              </a:rPr>
              <a:t>As variáveis que possuem os maiores valores de informação mútua com o alvo são “V17”, “V14” e “V12” - justamente as variáveis com maior correlação negativa;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20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+mj-lt"/>
              </a:rPr>
              <a:t>As variáveis “V4” e “V11” - que possuem forte correlação positiva - também aparecem como tendo grande informação mútua.</a:t>
            </a:r>
            <a:endParaRPr lang="pt-BR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234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742" y="-233977"/>
            <a:ext cx="10515600" cy="1325563"/>
          </a:xfrm>
        </p:spPr>
        <p:txBody>
          <a:bodyPr/>
          <a:lstStyle/>
          <a:p>
            <a:r>
              <a:rPr lang="pt-BR" b="1" dirty="0" smtClean="0"/>
              <a:t>Explorando o desbalanceamento dos dados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323" y="1100494"/>
            <a:ext cx="4034246" cy="2653828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773" y="1112830"/>
            <a:ext cx="4029035" cy="26504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49" y="4180037"/>
            <a:ext cx="4168120" cy="2677963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822" y="4180036"/>
            <a:ext cx="4070935" cy="267796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157548" y="743140"/>
            <a:ext cx="318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+mj-lt"/>
              </a:rPr>
              <a:t>Proporção original</a:t>
            </a:r>
            <a:endParaRPr lang="pt-BR" b="1" dirty="0"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7382691" y="731162"/>
            <a:ext cx="3252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 smtClean="0">
                <a:latin typeface="+mj-lt"/>
              </a:rPr>
              <a:t>Oversampling</a:t>
            </a:r>
            <a:r>
              <a:rPr lang="pt-BR" b="1" dirty="0" smtClean="0">
                <a:latin typeface="+mj-lt"/>
              </a:rPr>
              <a:t> na </a:t>
            </a:r>
            <a:r>
              <a:rPr lang="pt-BR" b="1" dirty="0">
                <a:latin typeface="+mj-lt"/>
              </a:rPr>
              <a:t>C</a:t>
            </a:r>
            <a:r>
              <a:rPr lang="pt-BR" b="1" dirty="0" smtClean="0">
                <a:latin typeface="+mj-lt"/>
              </a:rPr>
              <a:t>lasse 1</a:t>
            </a:r>
            <a:endParaRPr lang="pt-BR" b="1" dirty="0">
              <a:latin typeface="+mj-lt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815737" y="3810704"/>
            <a:ext cx="276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 smtClean="0">
                <a:latin typeface="+mj-lt"/>
              </a:rPr>
              <a:t>Undersampling</a:t>
            </a:r>
            <a:r>
              <a:rPr lang="pt-BR" b="1" dirty="0" smtClean="0">
                <a:latin typeface="+mj-lt"/>
              </a:rPr>
              <a:t> na Classe 0</a:t>
            </a:r>
            <a:endParaRPr lang="pt-BR" b="1" dirty="0">
              <a:latin typeface="+mj-lt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8190411" y="3801796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+mj-lt"/>
              </a:rPr>
              <a:t>SMOTE</a:t>
            </a:r>
            <a:endParaRPr lang="pt-B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7969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3434" y="-209641"/>
            <a:ext cx="10515600" cy="1325563"/>
          </a:xfrm>
        </p:spPr>
        <p:txBody>
          <a:bodyPr/>
          <a:lstStyle/>
          <a:p>
            <a:r>
              <a:rPr lang="pt-BR" b="1" dirty="0" smtClean="0"/>
              <a:t>Regressão Logística - Resultados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966" y="750162"/>
            <a:ext cx="9282068" cy="3560978"/>
          </a:xfrm>
        </p:spPr>
      </p:pic>
      <p:sp>
        <p:nvSpPr>
          <p:cNvPr id="6" name="CaixaDeTexto 5"/>
          <p:cNvSpPr txBox="1"/>
          <p:nvPr/>
        </p:nvSpPr>
        <p:spPr>
          <a:xfrm>
            <a:off x="757646" y="4311140"/>
            <a:ext cx="112340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O resultado com o modelo default e com ajuste nos </a:t>
            </a:r>
            <a:r>
              <a:rPr lang="pt-BR" sz="2400" dirty="0" err="1" smtClean="0">
                <a:latin typeface="+mj-lt"/>
              </a:rPr>
              <a:t>hiperparâmetros</a:t>
            </a:r>
            <a:r>
              <a:rPr lang="pt-BR" sz="2400" dirty="0" smtClean="0">
                <a:latin typeface="+mj-lt"/>
              </a:rPr>
              <a:t> foi o mesmo, coincidentemente;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A métrica F2-score atingida pelos modelos foi de 0.59;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A métrica </a:t>
            </a:r>
            <a:r>
              <a:rPr lang="pt-BR" sz="2400" dirty="0" err="1" smtClean="0">
                <a:latin typeface="+mj-lt"/>
              </a:rPr>
              <a:t>Precision</a:t>
            </a:r>
            <a:r>
              <a:rPr lang="pt-BR" sz="2400" dirty="0">
                <a:latin typeface="+mj-lt"/>
              </a:rPr>
              <a:t> </a:t>
            </a:r>
            <a:r>
              <a:rPr lang="pt-BR" sz="2400" dirty="0" smtClean="0">
                <a:latin typeface="+mj-lt"/>
              </a:rPr>
              <a:t>atingida pelos modelos foi de 0.27;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A métrica Recall atingida pelos modelos foi de 0.83;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400" dirty="0" smtClean="0">
                <a:latin typeface="+mj-lt"/>
              </a:rPr>
              <a:t>A métrica área sob a curva </a:t>
            </a:r>
            <a:r>
              <a:rPr lang="pt-BR" sz="2400" dirty="0" err="1" smtClean="0">
                <a:latin typeface="+mj-lt"/>
              </a:rPr>
              <a:t>Precision</a:t>
            </a:r>
            <a:r>
              <a:rPr lang="pt-BR" sz="2400" dirty="0" smtClean="0">
                <a:latin typeface="+mj-lt"/>
              </a:rPr>
              <a:t>-Recall foi de 0.72.</a:t>
            </a:r>
            <a:endParaRPr lang="pt-BR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152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7309" y="-131264"/>
            <a:ext cx="10515600" cy="1325563"/>
          </a:xfrm>
        </p:spPr>
        <p:txBody>
          <a:bodyPr/>
          <a:lstStyle/>
          <a:p>
            <a:r>
              <a:rPr lang="pt-BR" b="1" dirty="0" smtClean="0"/>
              <a:t>Regressão Logística – Importância das </a:t>
            </a:r>
            <a:r>
              <a:rPr lang="pt-BR" b="1" dirty="0" err="1" smtClean="0"/>
              <a:t>Features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786" y="1324926"/>
            <a:ext cx="6591800" cy="4919119"/>
          </a:xfrm>
        </p:spPr>
      </p:pic>
      <p:sp>
        <p:nvSpPr>
          <p:cNvPr id="5" name="CaixaDeTexto 4"/>
          <p:cNvSpPr txBox="1"/>
          <p:nvPr/>
        </p:nvSpPr>
        <p:spPr>
          <a:xfrm>
            <a:off x="237309" y="1468618"/>
            <a:ext cx="47788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+mj-lt"/>
              </a:rPr>
              <a:t>As </a:t>
            </a:r>
            <a:r>
              <a:rPr lang="pt-BR" sz="2000" dirty="0" err="1" smtClean="0">
                <a:latin typeface="+mj-lt"/>
              </a:rPr>
              <a:t>features</a:t>
            </a:r>
            <a:r>
              <a:rPr lang="pt-BR" sz="2000" dirty="0" smtClean="0">
                <a:latin typeface="+mj-lt"/>
              </a:rPr>
              <a:t> com maior impacto na Regressão Logística são “V4”, “V11”, “V14”, “V10” e “V12”;</a:t>
            </a:r>
          </a:p>
          <a:p>
            <a:endParaRPr lang="pt-BR" sz="2000" dirty="0" smtClean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+mj-lt"/>
              </a:rPr>
              <a:t>“V4” e “V11” possuem “importância” positiva – concordando com a análise delas possuírem forte correlação positiva com a variável alvo;</a:t>
            </a:r>
          </a:p>
          <a:p>
            <a:endParaRPr lang="pt-BR" sz="2000" dirty="0" smtClean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+mj-lt"/>
              </a:rPr>
              <a:t>“V14” e “V12” possuem “importância” negativa – concordando com a análise delas possuírem forte correlação negativa com a variável alvo.</a:t>
            </a:r>
            <a:endParaRPr lang="pt-BR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7472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0371" y="-170452"/>
            <a:ext cx="10515600" cy="1325563"/>
          </a:xfrm>
        </p:spPr>
        <p:txBody>
          <a:bodyPr/>
          <a:lstStyle/>
          <a:p>
            <a:r>
              <a:rPr lang="pt-BR" b="1" dirty="0" err="1" smtClean="0"/>
              <a:t>Random</a:t>
            </a:r>
            <a:r>
              <a:rPr lang="pt-BR" b="1" dirty="0" smtClean="0"/>
              <a:t> Forest - Resultados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736" y="883732"/>
            <a:ext cx="7725469" cy="2963803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736" y="3718281"/>
            <a:ext cx="7725469" cy="2963802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50371" y="1149915"/>
            <a:ext cx="398199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 smtClean="0">
                <a:latin typeface="+mj-lt"/>
              </a:rPr>
              <a:t>Random</a:t>
            </a:r>
            <a:r>
              <a:rPr lang="pt-BR" sz="2400" b="1" dirty="0" smtClean="0">
                <a:latin typeface="+mj-lt"/>
              </a:rPr>
              <a:t> Forest – Default</a:t>
            </a:r>
          </a:p>
          <a:p>
            <a:endParaRPr lang="pt-BR" b="1" dirty="0" smtClean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smtClean="0">
                <a:latin typeface="+mj-lt"/>
              </a:rPr>
              <a:t>F2-score atingiu 0.78;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err="1" smtClean="0">
                <a:latin typeface="+mj-lt"/>
              </a:rPr>
              <a:t>Precision</a:t>
            </a:r>
            <a:r>
              <a:rPr lang="pt-BR" sz="2200" dirty="0" smtClean="0">
                <a:latin typeface="+mj-lt"/>
              </a:rPr>
              <a:t> atingiu 0.93;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smtClean="0">
                <a:latin typeface="+mj-lt"/>
              </a:rPr>
              <a:t>Recall atingiu 0.75;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smtClean="0">
                <a:latin typeface="+mj-lt"/>
              </a:rPr>
              <a:t>Área sob a curva P-R atingiu 0.83.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50371" y="3718281"/>
            <a:ext cx="398199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latin typeface="+mj-lt"/>
              </a:rPr>
              <a:t>Random</a:t>
            </a:r>
            <a:r>
              <a:rPr lang="pt-BR" sz="2400" b="1" dirty="0">
                <a:latin typeface="+mj-lt"/>
              </a:rPr>
              <a:t> Forest – </a:t>
            </a:r>
            <a:r>
              <a:rPr lang="pt-BR" sz="2400" b="1" dirty="0" err="1" smtClean="0">
                <a:latin typeface="+mj-lt"/>
              </a:rPr>
              <a:t>Tuning</a:t>
            </a:r>
            <a:endParaRPr lang="pt-BR" sz="2400" b="1" dirty="0">
              <a:latin typeface="+mj-lt"/>
            </a:endParaRPr>
          </a:p>
          <a:p>
            <a:endParaRPr lang="pt-BR" sz="14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>
                <a:latin typeface="+mj-lt"/>
              </a:rPr>
              <a:t>F2-score atingiu 0.78;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err="1">
                <a:latin typeface="+mj-lt"/>
              </a:rPr>
              <a:t>Precision</a:t>
            </a:r>
            <a:r>
              <a:rPr lang="pt-BR" sz="2200" dirty="0">
                <a:latin typeface="+mj-lt"/>
              </a:rPr>
              <a:t> atingiu </a:t>
            </a:r>
            <a:r>
              <a:rPr lang="pt-BR" sz="2200" dirty="0" smtClean="0">
                <a:latin typeface="+mj-lt"/>
              </a:rPr>
              <a:t>0.76;</a:t>
            </a:r>
            <a:endParaRPr lang="pt-BR" sz="22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>
                <a:latin typeface="+mj-lt"/>
              </a:rPr>
              <a:t>Recall atingiu </a:t>
            </a:r>
            <a:r>
              <a:rPr lang="pt-BR" sz="2200" dirty="0" smtClean="0">
                <a:latin typeface="+mj-lt"/>
              </a:rPr>
              <a:t>0.79;</a:t>
            </a:r>
            <a:endParaRPr lang="pt-BR" sz="22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>
                <a:latin typeface="+mj-lt"/>
              </a:rPr>
              <a:t>Área sob a curva P-R atingiu </a:t>
            </a:r>
            <a:r>
              <a:rPr lang="pt-BR" sz="2200" dirty="0" smtClean="0">
                <a:latin typeface="+mj-lt"/>
              </a:rPr>
              <a:t>0.75.</a:t>
            </a:r>
            <a:endParaRPr lang="pt-BR" sz="2200" dirty="0">
              <a:latin typeface="+mj-lt"/>
            </a:endParaRPr>
          </a:p>
          <a:p>
            <a:endParaRPr lang="pt-BR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72525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0371" y="-105137"/>
            <a:ext cx="10515600" cy="1325563"/>
          </a:xfrm>
        </p:spPr>
        <p:txBody>
          <a:bodyPr/>
          <a:lstStyle/>
          <a:p>
            <a:r>
              <a:rPr lang="pt-BR" b="1" dirty="0" err="1" smtClean="0"/>
              <a:t>Random</a:t>
            </a:r>
            <a:r>
              <a:rPr lang="pt-BR" b="1" dirty="0" smtClean="0"/>
              <a:t> Forest – Importância das </a:t>
            </a:r>
            <a:r>
              <a:rPr lang="pt-BR" b="1" dirty="0" err="1" smtClean="0"/>
              <a:t>Features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70" y="1037546"/>
            <a:ext cx="5603965" cy="4193391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233" y="1037546"/>
            <a:ext cx="5603966" cy="419339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65760" y="5230937"/>
            <a:ext cx="113908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+mj-lt"/>
              </a:rPr>
              <a:t>A variável “V14”, novamente, possui a maior grau de “importância”, seguida de “V10” , “V17” e “V12”;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+mj-lt"/>
              </a:rPr>
              <a:t>Essas variáveis também apareceram como relevantes tanto na análise de correção quanto na Regressão Logística;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+mj-lt"/>
              </a:rPr>
              <a:t>No modelo com os </a:t>
            </a:r>
            <a:r>
              <a:rPr lang="pt-BR" sz="2000" dirty="0" err="1" smtClean="0">
                <a:latin typeface="+mj-lt"/>
              </a:rPr>
              <a:t>hiperparâmetros</a:t>
            </a:r>
            <a:r>
              <a:rPr lang="pt-BR" sz="2000" dirty="0" smtClean="0">
                <a:latin typeface="+mj-lt"/>
              </a:rPr>
              <a:t> ajustados, a importância das variáveis é ligeiramente mais elevada.</a:t>
            </a:r>
            <a:endParaRPr lang="pt-BR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5403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617" y="-288018"/>
            <a:ext cx="10515600" cy="1325563"/>
          </a:xfrm>
        </p:spPr>
        <p:txBody>
          <a:bodyPr/>
          <a:lstStyle/>
          <a:p>
            <a:r>
              <a:rPr lang="pt-BR" b="1" dirty="0" err="1" smtClean="0"/>
              <a:t>XGBoost</a:t>
            </a:r>
            <a:r>
              <a:rPr lang="pt-BR" b="1" dirty="0" smtClean="0"/>
              <a:t> </a:t>
            </a:r>
            <a:r>
              <a:rPr lang="pt-BR" b="1" dirty="0" err="1" smtClean="0"/>
              <a:t>Classifier</a:t>
            </a:r>
            <a:r>
              <a:rPr lang="pt-BR" b="1" dirty="0" smtClean="0"/>
              <a:t> - Resultados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114" y="686764"/>
            <a:ext cx="8061348" cy="3092660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823" y="3674921"/>
            <a:ext cx="8024639" cy="3078576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3835" y="1028043"/>
            <a:ext cx="364453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 smtClean="0">
                <a:latin typeface="+mj-lt"/>
              </a:rPr>
              <a:t>XGBoost</a:t>
            </a:r>
            <a:r>
              <a:rPr lang="pt-BR" sz="2400" b="1" dirty="0" smtClean="0">
                <a:latin typeface="+mj-lt"/>
              </a:rPr>
              <a:t> – </a:t>
            </a:r>
            <a:r>
              <a:rPr lang="pt-BR" sz="2400" b="1" dirty="0">
                <a:latin typeface="+mj-lt"/>
              </a:rPr>
              <a:t>Default</a:t>
            </a:r>
          </a:p>
          <a:p>
            <a:endParaRPr lang="pt-BR" sz="14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>
                <a:latin typeface="+mj-lt"/>
              </a:rPr>
              <a:t>F2-score atingiu </a:t>
            </a:r>
            <a:r>
              <a:rPr lang="pt-BR" sz="2200" dirty="0" smtClean="0">
                <a:latin typeface="+mj-lt"/>
              </a:rPr>
              <a:t>0.79; </a:t>
            </a:r>
            <a:endParaRPr lang="pt-BR" sz="22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err="1">
                <a:latin typeface="+mj-lt"/>
              </a:rPr>
              <a:t>Precision</a:t>
            </a:r>
            <a:r>
              <a:rPr lang="pt-BR" sz="2200" dirty="0">
                <a:latin typeface="+mj-lt"/>
              </a:rPr>
              <a:t> atingiu </a:t>
            </a:r>
            <a:r>
              <a:rPr lang="pt-BR" sz="2200" dirty="0" smtClean="0">
                <a:latin typeface="+mj-lt"/>
              </a:rPr>
              <a:t>0.84;</a:t>
            </a:r>
            <a:endParaRPr lang="pt-BR" sz="22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>
                <a:latin typeface="+mj-lt"/>
              </a:rPr>
              <a:t>Recall atingiu </a:t>
            </a:r>
            <a:r>
              <a:rPr lang="pt-BR" sz="2200" dirty="0" smtClean="0">
                <a:latin typeface="+mj-lt"/>
              </a:rPr>
              <a:t>0.77;</a:t>
            </a:r>
            <a:endParaRPr lang="pt-BR" sz="22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>
                <a:latin typeface="+mj-lt"/>
              </a:rPr>
              <a:t>Área sob a curva P-R atingiu </a:t>
            </a:r>
            <a:r>
              <a:rPr lang="pt-BR" sz="2200" dirty="0" smtClean="0">
                <a:latin typeface="+mj-lt"/>
              </a:rPr>
              <a:t>0.80.</a:t>
            </a:r>
            <a:endParaRPr lang="pt-BR" sz="2200" dirty="0">
              <a:latin typeface="+mj-lt"/>
            </a:endParaRPr>
          </a:p>
          <a:p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233834" y="3744494"/>
            <a:ext cx="3644537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latin typeface="+mj-lt"/>
              </a:rPr>
              <a:t>XGBoost</a:t>
            </a:r>
            <a:r>
              <a:rPr lang="pt-BR" sz="2400" b="1" dirty="0">
                <a:latin typeface="+mj-lt"/>
              </a:rPr>
              <a:t> – </a:t>
            </a:r>
            <a:r>
              <a:rPr lang="pt-BR" sz="2400" b="1" dirty="0" err="1" smtClean="0">
                <a:latin typeface="+mj-lt"/>
              </a:rPr>
              <a:t>Tuning</a:t>
            </a:r>
            <a:endParaRPr lang="pt-BR" sz="2400" b="1" dirty="0">
              <a:latin typeface="+mj-lt"/>
            </a:endParaRPr>
          </a:p>
          <a:p>
            <a:endParaRPr lang="pt-BR" sz="1100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>
                <a:latin typeface="+mj-lt"/>
              </a:rPr>
              <a:t>F2-score atingiu </a:t>
            </a:r>
            <a:r>
              <a:rPr lang="pt-BR" sz="2200" dirty="0" smtClean="0">
                <a:latin typeface="+mj-lt"/>
              </a:rPr>
              <a:t>0.76; </a:t>
            </a:r>
            <a:endParaRPr lang="pt-BR" sz="22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err="1">
                <a:latin typeface="+mj-lt"/>
              </a:rPr>
              <a:t>Precision</a:t>
            </a:r>
            <a:r>
              <a:rPr lang="pt-BR" sz="2200" dirty="0">
                <a:latin typeface="+mj-lt"/>
              </a:rPr>
              <a:t> atingiu </a:t>
            </a:r>
            <a:r>
              <a:rPr lang="pt-BR" sz="2200" dirty="0" smtClean="0">
                <a:latin typeface="+mj-lt"/>
              </a:rPr>
              <a:t>0.64;</a:t>
            </a:r>
            <a:endParaRPr lang="pt-BR" sz="22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>
                <a:latin typeface="+mj-lt"/>
              </a:rPr>
              <a:t>Recall atingiu </a:t>
            </a:r>
            <a:r>
              <a:rPr lang="pt-BR" sz="2200" dirty="0" smtClean="0">
                <a:latin typeface="+mj-lt"/>
              </a:rPr>
              <a:t>0.80;</a:t>
            </a:r>
            <a:endParaRPr lang="pt-BR" sz="22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>
                <a:latin typeface="+mj-lt"/>
              </a:rPr>
              <a:t>Área sob a curva P-R atingiu 0.80.</a:t>
            </a:r>
          </a:p>
          <a:p>
            <a:endParaRPr lang="pt-BR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7775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1994" y="-235766"/>
            <a:ext cx="10515600" cy="1325563"/>
          </a:xfrm>
        </p:spPr>
        <p:txBody>
          <a:bodyPr/>
          <a:lstStyle/>
          <a:p>
            <a:r>
              <a:rPr lang="pt-BR" b="1" dirty="0" err="1" smtClean="0"/>
              <a:t>XGBoost</a:t>
            </a:r>
            <a:r>
              <a:rPr lang="pt-BR" b="1" dirty="0" smtClean="0"/>
              <a:t> – Importância das </a:t>
            </a:r>
            <a:r>
              <a:rPr lang="pt-BR" b="1" dirty="0" err="1" smtClean="0"/>
              <a:t>Features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" y="884272"/>
            <a:ext cx="5654040" cy="4271769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456" y="884272"/>
            <a:ext cx="5684123" cy="425337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0499" y="5264488"/>
            <a:ext cx="116890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+mj-lt"/>
              </a:rPr>
              <a:t>Novamente a variável “V14” aparece como tendo o maior grau de “importância”, seguido pelas variáveis “V17” no caso default e por “V10” no caso dos </a:t>
            </a:r>
            <a:r>
              <a:rPr lang="pt-BR" sz="2000" dirty="0" err="1" smtClean="0">
                <a:latin typeface="+mj-lt"/>
              </a:rPr>
              <a:t>hiperparâmetros</a:t>
            </a:r>
            <a:r>
              <a:rPr lang="pt-BR" sz="2000" dirty="0" smtClean="0">
                <a:latin typeface="+mj-lt"/>
              </a:rPr>
              <a:t> ajustados;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+mj-lt"/>
              </a:rPr>
              <a:t>Os resultados concordam com os obtidos por </a:t>
            </a:r>
            <a:r>
              <a:rPr lang="pt-BR" sz="2000" dirty="0" err="1" smtClean="0">
                <a:latin typeface="+mj-lt"/>
              </a:rPr>
              <a:t>Random</a:t>
            </a:r>
            <a:r>
              <a:rPr lang="pt-BR" sz="2000" dirty="0" smtClean="0">
                <a:latin typeface="+mj-lt"/>
              </a:rPr>
              <a:t> Forest, Regressão Logística e a análise de correlações;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>
                <a:latin typeface="+mj-lt"/>
              </a:rPr>
              <a:t>No modelo com os </a:t>
            </a:r>
            <a:r>
              <a:rPr lang="pt-BR" sz="2000" dirty="0" err="1">
                <a:latin typeface="+mj-lt"/>
              </a:rPr>
              <a:t>hiperparâmetros</a:t>
            </a:r>
            <a:r>
              <a:rPr lang="pt-BR" sz="2000" dirty="0">
                <a:latin typeface="+mj-lt"/>
              </a:rPr>
              <a:t> ajustados, a importância das variáveis é </a:t>
            </a:r>
            <a:r>
              <a:rPr lang="pt-BR" sz="2000" dirty="0" smtClean="0">
                <a:latin typeface="+mj-lt"/>
              </a:rPr>
              <a:t>mais </a:t>
            </a:r>
            <a:r>
              <a:rPr lang="pt-BR" sz="2000" dirty="0">
                <a:latin typeface="+mj-lt"/>
              </a:rPr>
              <a:t>elevada</a:t>
            </a:r>
            <a:r>
              <a:rPr lang="pt-BR" sz="2000" dirty="0" smtClean="0">
                <a:latin typeface="+mj-lt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1759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7308" y="-131264"/>
            <a:ext cx="10515600" cy="1325563"/>
          </a:xfrm>
        </p:spPr>
        <p:txBody>
          <a:bodyPr/>
          <a:lstStyle/>
          <a:p>
            <a:r>
              <a:rPr lang="pt-BR" b="1" dirty="0" smtClean="0"/>
              <a:t>Conclusões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963" y="1318396"/>
            <a:ext cx="5375350" cy="2176795"/>
          </a:xfrm>
        </p:spPr>
      </p:pic>
      <p:sp>
        <p:nvSpPr>
          <p:cNvPr id="5" name="CaixaDeTexto 4"/>
          <p:cNvSpPr txBox="1"/>
          <p:nvPr/>
        </p:nvSpPr>
        <p:spPr>
          <a:xfrm>
            <a:off x="237308" y="945414"/>
            <a:ext cx="78507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>
                <a:latin typeface="+mj-lt"/>
              </a:rPr>
              <a:t>Sumário dos resultados dos modelos:</a:t>
            </a:r>
            <a:endParaRPr lang="pt-BR" sz="2200" b="1" dirty="0">
              <a:latin typeface="+mj-lt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30628" y="3931919"/>
            <a:ext cx="119133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smtClean="0">
                <a:latin typeface="+mj-lt"/>
              </a:rPr>
              <a:t>O enorme </a:t>
            </a:r>
            <a:r>
              <a:rPr lang="pt-BR" sz="2200" dirty="0" err="1" smtClean="0">
                <a:latin typeface="+mj-lt"/>
              </a:rPr>
              <a:t>desbalanço</a:t>
            </a:r>
            <a:r>
              <a:rPr lang="pt-BR" sz="2200" dirty="0" smtClean="0">
                <a:latin typeface="+mj-lt"/>
              </a:rPr>
              <a:t> nos dados é o maior </a:t>
            </a:r>
            <a:r>
              <a:rPr lang="pt-BR" sz="2200" dirty="0" err="1" smtClean="0">
                <a:latin typeface="+mj-lt"/>
              </a:rPr>
              <a:t>dificultador</a:t>
            </a:r>
            <a:r>
              <a:rPr lang="pt-BR" sz="2200" dirty="0" smtClean="0">
                <a:latin typeface="+mj-lt"/>
              </a:rPr>
              <a:t> tanto na análise quanto no treino dos modelos;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smtClean="0">
                <a:latin typeface="+mj-lt"/>
              </a:rPr>
              <a:t>A variável “V14” apareceu como tendo um maior grau de importância em todos os modelos;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smtClean="0">
                <a:latin typeface="+mj-lt"/>
              </a:rPr>
              <a:t>Combinando uma </a:t>
            </a:r>
            <a:r>
              <a:rPr lang="pt-BR" sz="2200" dirty="0" err="1" smtClean="0">
                <a:latin typeface="+mj-lt"/>
              </a:rPr>
              <a:t>prefêrencia</a:t>
            </a:r>
            <a:r>
              <a:rPr lang="pt-BR" sz="2200" dirty="0" smtClean="0">
                <a:latin typeface="+mj-lt"/>
              </a:rPr>
              <a:t> por Recall e área sob a curva </a:t>
            </a:r>
            <a:r>
              <a:rPr lang="pt-BR" sz="2200" dirty="0" err="1" smtClean="0">
                <a:latin typeface="+mj-lt"/>
              </a:rPr>
              <a:t>Precision</a:t>
            </a:r>
            <a:r>
              <a:rPr lang="pt-BR" sz="2200" dirty="0" smtClean="0">
                <a:latin typeface="+mj-lt"/>
              </a:rPr>
              <a:t>-Recall, o modelo que atingiu a melhor performance foi o </a:t>
            </a:r>
            <a:r>
              <a:rPr lang="pt-BR" sz="2200" dirty="0" err="1" smtClean="0">
                <a:latin typeface="+mj-lt"/>
              </a:rPr>
              <a:t>XGBoost</a:t>
            </a:r>
            <a:r>
              <a:rPr lang="pt-BR" sz="2200" dirty="0" smtClean="0">
                <a:latin typeface="+mj-lt"/>
              </a:rPr>
              <a:t> </a:t>
            </a:r>
            <a:r>
              <a:rPr lang="pt-BR" sz="2200" dirty="0" err="1" smtClean="0">
                <a:latin typeface="+mj-lt"/>
              </a:rPr>
              <a:t>Classifier</a:t>
            </a:r>
            <a:r>
              <a:rPr lang="pt-BR" sz="2200" dirty="0" smtClean="0">
                <a:latin typeface="+mj-lt"/>
              </a:rPr>
              <a:t> com os </a:t>
            </a:r>
            <a:r>
              <a:rPr lang="pt-BR" sz="2200" dirty="0" err="1" smtClean="0">
                <a:latin typeface="+mj-lt"/>
              </a:rPr>
              <a:t>hiperparâmetros</a:t>
            </a:r>
            <a:r>
              <a:rPr lang="pt-BR" sz="2200" dirty="0" smtClean="0">
                <a:latin typeface="+mj-lt"/>
              </a:rPr>
              <a:t> ajustados;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200" dirty="0" smtClean="0">
                <a:latin typeface="+mj-lt"/>
              </a:rPr>
              <a:t>Possivelmente modelos de ensemble combinando diversas técnicas e com ajustes de </a:t>
            </a:r>
            <a:r>
              <a:rPr lang="pt-BR" sz="2200" dirty="0" err="1" smtClean="0">
                <a:latin typeface="+mj-lt"/>
              </a:rPr>
              <a:t>hiperparâmetros</a:t>
            </a:r>
            <a:r>
              <a:rPr lang="pt-BR" sz="2200" dirty="0" smtClean="0">
                <a:latin typeface="+mj-lt"/>
              </a:rPr>
              <a:t> mais elaborados levaria a uma performance mais elevada.</a:t>
            </a:r>
          </a:p>
        </p:txBody>
      </p:sp>
    </p:spTree>
    <p:extLst>
      <p:ext uri="{BB962C8B-B14F-4D97-AF65-F5344CB8AC3E}">
        <p14:creationId xmlns:p14="http://schemas.microsoft.com/office/powerpoint/2010/main" val="3766892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891</Words>
  <Application>Microsoft Office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Georgia</vt:lpstr>
      <vt:lpstr>Wingdings</vt:lpstr>
      <vt:lpstr>Tema do Office</vt:lpstr>
      <vt:lpstr>Detecção de Fraude em Transações com Cartão de Crédito</vt:lpstr>
      <vt:lpstr>O impacto das fraudes com cartões de crédito</vt:lpstr>
      <vt:lpstr>Detecção de Fraudes – o método atual vs Machine Learning</vt:lpstr>
      <vt:lpstr>O problema que estamos lidando</vt:lpstr>
      <vt:lpstr>Análise Exploratória dos Dados</vt:lpstr>
      <vt:lpstr>Análise Exploratória dos Dados</vt:lpstr>
      <vt:lpstr>Análise Exploratória dos Dados</vt:lpstr>
      <vt:lpstr>Explorando o desbalanceamento dos dados</vt:lpstr>
      <vt:lpstr>Regressão Logística - Resultados</vt:lpstr>
      <vt:lpstr>Regressão Logística – Importância das Features</vt:lpstr>
      <vt:lpstr>Random Forest - Resultados</vt:lpstr>
      <vt:lpstr>Random Forest – Importância das Features</vt:lpstr>
      <vt:lpstr>XGBoost Classifier - Resultados</vt:lpstr>
      <vt:lpstr>XGBoost – Importância das Features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Detecção de Fraude em Transações com Cartão de Crédito</dc:title>
  <dc:creator>João Lucas</dc:creator>
  <cp:lastModifiedBy>João Lucas</cp:lastModifiedBy>
  <cp:revision>36</cp:revision>
  <dcterms:created xsi:type="dcterms:W3CDTF">2021-12-23T12:04:40Z</dcterms:created>
  <dcterms:modified xsi:type="dcterms:W3CDTF">2021-12-23T18:24:47Z</dcterms:modified>
</cp:coreProperties>
</file>